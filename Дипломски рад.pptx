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7" r:id="rId10"/>
    <p:sldId id="269" r:id="rId11"/>
    <p:sldId id="270" r:id="rId12"/>
    <p:sldId id="26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16" autoAdjust="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109144437176537"/>
          <c:y val="4.7322004732200475E-2"/>
          <c:w val="0.68836435210948288"/>
          <c:h val="0.8535314511799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Sheet1!$B$2:$B$5</c:f>
              <c:numCache>
                <c:formatCode>0.00E+00</c:formatCode>
                <c:ptCount val="4"/>
                <c:pt idx="0">
                  <c:v>7.3647959999999995E-14</c:v>
                </c:pt>
                <c:pt idx="1">
                  <c:v>1.9348930000000001E-14</c:v>
                </c:pt>
                <c:pt idx="2">
                  <c:v>7.0713670000000004E-14</c:v>
                </c:pt>
                <c:pt idx="3">
                  <c:v>1.6414629999999999E-14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FA-40DC-9EA6-109F9B9AAB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Sheet1!$C$2:$C$5</c:f>
              <c:numCache>
                <c:formatCode>0.00E+00</c:formatCode>
                <c:ptCount val="4"/>
                <c:pt idx="0">
                  <c:v>1.452623E-16</c:v>
                </c:pt>
                <c:pt idx="1">
                  <c:v>1.7431470000000001E-16</c:v>
                </c:pt>
                <c:pt idx="2">
                  <c:v>1.7431470000000001E-16</c:v>
                </c:pt>
                <c:pt idx="3">
                  <c:v>2.3241960000000001E-16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FA-40DC-9EA6-109F9B9AAB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70337935979496E-2"/>
                  <c:y val="0.88033138302271297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9FA-40DC-9EA6-109F9B9AAB49}"/>
                </c:ext>
              </c:extLst>
            </c:dLbl>
            <c:dLbl>
              <c:idx val="1"/>
              <c:layout>
                <c:manualLayout>
                  <c:x val="1.270337935979496E-2"/>
                  <c:y val="0.88033138302271297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9FA-40DC-9EA6-109F9B9AAB49}"/>
                </c:ext>
              </c:extLst>
            </c:dLbl>
            <c:dLbl>
              <c:idx val="2"/>
              <c:layout>
                <c:manualLayout>
                  <c:x val="1.2703379359795023E-2"/>
                  <c:y val="0.88033138302271297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9FA-40DC-9EA6-109F9B9AAB49}"/>
                </c:ext>
              </c:extLst>
            </c:dLbl>
            <c:dLbl>
              <c:idx val="3"/>
              <c:layout>
                <c:manualLayout>
                  <c:x val="1.2703379359795023E-2"/>
                  <c:y val="0.88033138302271297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9FA-40DC-9EA6-109F9B9AAB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Sheet1!$D$2:$D$5</c:f>
              <c:numCache>
                <c:formatCode>0.00E+00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9FA-40DC-9EA6-109F9B9AAB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6854880"/>
        <c:crossesAt val="1.000000000000001E-17"/>
        <c:auto val="1"/>
        <c:lblAlgn val="ctr"/>
        <c:lblOffset val="100"/>
        <c:noMultiLvlLbl val="0"/>
      </c:catAx>
      <c:valAx>
        <c:axId val="716854880"/>
        <c:scaling>
          <c:logBase val="10"/>
          <c:orientation val="minMax"/>
          <c:max val="1.0000000000000007E-13"/>
          <c:min val="1.000000000000001E-1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253435101003402"/>
          <c:y val="2.1269841269841269E-2"/>
          <c:w val="0.73334653432827146"/>
          <c:h val="0.907116610423697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Sheet1!$B$2:$B$5</c:f>
              <c:numCache>
                <c:formatCode>0.00E+00</c:formatCode>
                <c:ptCount val="4"/>
                <c:pt idx="0">
                  <c:v>2.2899999999999998E-13</c:v>
                </c:pt>
                <c:pt idx="1">
                  <c:v>6.11E-14</c:v>
                </c:pt>
                <c:pt idx="2">
                  <c:v>6.2600000000000006E-14</c:v>
                </c:pt>
                <c:pt idx="3">
                  <c:v>2.8199999999999999E-14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58-43C0-870B-58D8B90D8E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4037742212992053E-2"/>
                  <c:y val="0.9076867660180771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endParaRPr lang="en-US" dirty="0"/>
                  </a:p>
                  <a:p>
                    <a:pPr>
                      <a:defRPr/>
                    </a:pPr>
                    <a:endParaRPr lang="en-US" dirty="0"/>
                  </a:p>
                  <a:p>
                    <a:pPr>
                      <a:defRPr/>
                    </a:pP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716496948612129E-2"/>
                      <c:h val="1.447147481554392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C958-43C0-870B-58D8B90D8ED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958-43C0-870B-58D8B90D8ED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958-43C0-870B-58D8B90D8ED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958-43C0-870B-58D8B90D8E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Sheet1!$C$2:$C$5</c:f>
              <c:numCache>
                <c:formatCode>0.00E+00</c:formatCode>
                <c:ptCount val="4"/>
                <c:pt idx="0">
                  <c:v>0</c:v>
                </c:pt>
                <c:pt idx="1">
                  <c:v>2.6199999999999999E-17</c:v>
                </c:pt>
                <c:pt idx="2">
                  <c:v>5.2399999999999999E-17</c:v>
                </c:pt>
                <c:pt idx="3">
                  <c:v>2.6199999999999999E-17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958-43C0-870B-58D8B90D8E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4347397130141598E-2"/>
                  <c:y val="0.90728606465231332"/>
                </c:manualLayout>
              </c:layout>
              <c:tx>
                <c:rich>
                  <a:bodyPr/>
                  <a:lstStyle/>
                  <a:p>
                    <a:endParaRPr lang="en-US" dirty="0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958-43C0-870B-58D8B90D8EDB}"/>
                </c:ext>
              </c:extLst>
            </c:dLbl>
            <c:dLbl>
              <c:idx val="1"/>
              <c:layout>
                <c:manualLayout>
                  <c:x val="1.4347397130141524E-2"/>
                  <c:y val="0.90728606465231332"/>
                </c:manualLayout>
              </c:layout>
              <c:tx>
                <c:rich>
                  <a:bodyPr/>
                  <a:lstStyle/>
                  <a:p>
                    <a:endParaRPr lang="en-US" dirty="0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958-43C0-870B-58D8B90D8EDB}"/>
                </c:ext>
              </c:extLst>
            </c:dLbl>
            <c:dLbl>
              <c:idx val="2"/>
              <c:layout>
                <c:manualLayout>
                  <c:x val="1.4347397130141598E-2"/>
                  <c:y val="0.90728606465231332"/>
                </c:manualLayout>
              </c:layout>
              <c:tx>
                <c:rich>
                  <a:bodyPr/>
                  <a:lstStyle/>
                  <a:p>
                    <a:endParaRPr lang="en-US" dirty="0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C958-43C0-870B-58D8B90D8EDB}"/>
                </c:ext>
              </c:extLst>
            </c:dLbl>
            <c:dLbl>
              <c:idx val="3"/>
              <c:layout>
                <c:manualLayout>
                  <c:x val="1.4347397130141598E-2"/>
                  <c:y val="0.90728606465231332"/>
                </c:manualLayout>
              </c:layout>
              <c:tx>
                <c:rich>
                  <a:bodyPr/>
                  <a:lstStyle/>
                  <a:p>
                    <a:endParaRPr lang="en-US" dirty="0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958-43C0-870B-58D8B90D8E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Sheet1!$D$2:$D$5</c:f>
              <c:numCache>
                <c:formatCode>0.00E+00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958-43C0-870B-58D8B90D8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6854880"/>
        <c:crossesAt val="1.000000000000001E-18"/>
        <c:auto val="1"/>
        <c:lblAlgn val="ctr"/>
        <c:lblOffset val="100"/>
        <c:noMultiLvlLbl val="0"/>
      </c:catAx>
      <c:valAx>
        <c:axId val="716854880"/>
        <c:scaling>
          <c:logBase val="10"/>
          <c:orientation val="minMax"/>
          <c:max val="1.0000000000000006E-12"/>
          <c:min val="1.000000000000001E-1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509364158088545"/>
          <c:y val="3.952745870979206E-2"/>
          <c:w val="0.51795295445658485"/>
          <c:h val="0.877656714914499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Sheet1!$B$2:$B$5</c:f>
              <c:numCache>
                <c:formatCode>0.00E+00</c:formatCode>
                <c:ptCount val="4"/>
                <c:pt idx="0">
                  <c:v>1.8444930000000001E-13</c:v>
                </c:pt>
                <c:pt idx="1">
                  <c:v>2.8188010000000001E-13</c:v>
                </c:pt>
                <c:pt idx="2">
                  <c:v>2.7450679999999998E-13</c:v>
                </c:pt>
                <c:pt idx="3">
                  <c:v>1.386786E-13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D7-42E7-A624-3DD0CF7ECD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4373246015653847E-3"/>
                  <c:y val="0.8955356041391502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endParaRPr lang="en-US" dirty="0"/>
                  </a:p>
                  <a:p>
                    <a:pPr>
                      <a:defRPr/>
                    </a:pPr>
                    <a:endParaRPr lang="en-US" dirty="0"/>
                  </a:p>
                  <a:p>
                    <a:pPr>
                      <a:defRPr/>
                    </a:pP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315371353066432E-2"/>
                      <c:h val="3.912907172437052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E1D7-42E7-A624-3DD0CF7ECD3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1D7-42E7-A624-3DD0CF7ECD3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D7-42E7-A624-3DD0CF7ECD3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1D7-42E7-A624-3DD0CF7ECD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Sheet1!$C$2:$C$5</c:f>
              <c:numCache>
                <c:formatCode>0.00E+00</c:formatCode>
                <c:ptCount val="4"/>
                <c:pt idx="0">
                  <c:v>0</c:v>
                </c:pt>
                <c:pt idx="1">
                  <c:v>7.0670219999999995E-17</c:v>
                </c:pt>
                <c:pt idx="2">
                  <c:v>9.4226980000000006E-17</c:v>
                </c:pt>
                <c:pt idx="3">
                  <c:v>4.7113479999999999E-17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1D7-42E7-A624-3DD0CF7ECD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3233405601589472E-3"/>
                  <c:y val="0.89561836564002795"/>
                </c:manualLayout>
              </c:layout>
              <c:tx>
                <c:rich>
                  <a:bodyPr/>
                  <a:lstStyle/>
                  <a:p>
                    <a:endParaRPr lang="en-US" dirty="0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299286741345465E-2"/>
                      <c:h val="4.914137418610783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6-E1D7-42E7-A624-3DD0CF7ECD39}"/>
                </c:ext>
              </c:extLst>
            </c:dLbl>
            <c:dLbl>
              <c:idx val="1"/>
              <c:layout>
                <c:manualLayout>
                  <c:x val="-5.3233405601589958E-3"/>
                  <c:y val="0.89561836564002795"/>
                </c:manualLayout>
              </c:layout>
              <c:tx>
                <c:rich>
                  <a:bodyPr/>
                  <a:lstStyle/>
                  <a:p>
                    <a:endParaRPr lang="en-US" dirty="0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299286741345465E-2"/>
                      <c:h val="4.914137418610783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7-E1D7-42E7-A624-3DD0CF7ECD39}"/>
                </c:ext>
              </c:extLst>
            </c:dLbl>
            <c:dLbl>
              <c:idx val="2"/>
              <c:layout>
                <c:manualLayout>
                  <c:x val="-5.3233405601589472E-3"/>
                  <c:y val="0.89561836564002795"/>
                </c:manualLayout>
              </c:layout>
              <c:tx>
                <c:rich>
                  <a:bodyPr/>
                  <a:lstStyle/>
                  <a:p>
                    <a:endParaRPr lang="en-US" dirty="0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299286741345465E-2"/>
                      <c:h val="4.914137418610783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8-E1D7-42E7-A624-3DD0CF7ECD39}"/>
                </c:ext>
              </c:extLst>
            </c:dLbl>
            <c:dLbl>
              <c:idx val="3"/>
              <c:layout>
                <c:manualLayout>
                  <c:x val="-5.3233405601589472E-3"/>
                  <c:y val="0.89561836564002795"/>
                </c:manualLayout>
              </c:layout>
              <c:tx>
                <c:rich>
                  <a:bodyPr/>
                  <a:lstStyle/>
                  <a:p>
                    <a:endParaRPr lang="en-US" dirty="0"/>
                  </a:p>
                  <a:p>
                    <a:endParaRPr lang="en-US" dirty="0"/>
                  </a:p>
                </c:rich>
              </c:tx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299286741345465E-2"/>
                      <c:h val="4.914137418610783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9-E1D7-42E7-A624-3DD0CF7ECD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Sheet1!$D$2:$D$5</c:f>
              <c:numCache>
                <c:formatCode>0.00E+00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1D7-42E7-A624-3DD0CF7ECD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6854880"/>
        <c:crossesAt val="1.000000000000001E-18"/>
        <c:auto val="1"/>
        <c:lblAlgn val="ctr"/>
        <c:lblOffset val="100"/>
        <c:noMultiLvlLbl val="0"/>
      </c:catAx>
      <c:valAx>
        <c:axId val="716854880"/>
        <c:scaling>
          <c:logBase val="10"/>
          <c:orientation val="minMax"/>
          <c:max val="1.0000000000000006E-12"/>
          <c:min val="1.000000000000001E-1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011808436750934"/>
          <c:y val="0.31504459783852423"/>
          <c:w val="0.25065567535745814"/>
          <c:h val="0.369910804322951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uniform_random_1000</c:v>
                </c:pt>
                <c:pt idx="1">
                  <c:v>mixed_random_1000</c:v>
                </c:pt>
                <c:pt idx="2">
                  <c:v>mixed_log_1000</c:v>
                </c:pt>
              </c:strCache>
            </c:strRef>
          </c:cat>
          <c:val>
            <c:numRef>
              <c:f>Sheet1!$B$2:$B$4</c:f>
              <c:numCache>
                <c:formatCode>0.00E+00</c:formatCode>
                <c:ptCount val="3"/>
                <c:pt idx="0">
                  <c:v>9.3135330000000003E-16</c:v>
                </c:pt>
                <c:pt idx="1">
                  <c:v>3.1199999999999999E-16</c:v>
                </c:pt>
                <c:pt idx="2">
                  <c:v>3.2099999999999999E-16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B7-4BD5-90C5-72990FC022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uniform_random_1000</c:v>
                </c:pt>
                <c:pt idx="1">
                  <c:v>mixed_random_1000</c:v>
                </c:pt>
                <c:pt idx="2">
                  <c:v>mixed_log_1000</c:v>
                </c:pt>
              </c:strCache>
            </c:strRef>
          </c:cat>
          <c:val>
            <c:numRef>
              <c:f>Sheet1!$C$2:$C$4</c:f>
              <c:numCache>
                <c:formatCode>0.00E+00</c:formatCode>
                <c:ptCount val="3"/>
                <c:pt idx="0">
                  <c:v>6.2989149999999994E-17</c:v>
                </c:pt>
                <c:pt idx="1">
                  <c:v>6.39E-17</c:v>
                </c:pt>
                <c:pt idx="2">
                  <c:v>6.5200000000000004E-17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B7-4BD5-90C5-72990FC022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uniform_random_1000</c:v>
                </c:pt>
                <c:pt idx="1">
                  <c:v>mixed_random_1000</c:v>
                </c:pt>
                <c:pt idx="2">
                  <c:v>mixed_log_1000</c:v>
                </c:pt>
              </c:strCache>
            </c:strRef>
          </c:cat>
          <c:val>
            <c:numRef>
              <c:f>Sheet1!$D$2:$D$4</c:f>
              <c:numCache>
                <c:formatCode>0.00E+00</c:formatCode>
                <c:ptCount val="3"/>
                <c:pt idx="0">
                  <c:v>4.6307209999999998E-17</c:v>
                </c:pt>
                <c:pt idx="1">
                  <c:v>4.6900000000000002E-17</c:v>
                </c:pt>
                <c:pt idx="2">
                  <c:v>4.7999999999999997E-17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B7-4BD5-90C5-72990FC022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16854880"/>
        <c:crossesAt val="1.000000000000001E-17"/>
        <c:auto val="1"/>
        <c:lblAlgn val="ctr"/>
        <c:lblOffset val="100"/>
        <c:noMultiLvlLbl val="0"/>
      </c:catAx>
      <c:valAx>
        <c:axId val="716854880"/>
        <c:scaling>
          <c:logBase val="10"/>
          <c:orientation val="minMax"/>
          <c:max val="1.0000000000000008E-14"/>
          <c:min val="1.000000000000001E-1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34701218762519"/>
          <c:y val="4.2247804458519944E-2"/>
          <c:w val="0.51215089969501193"/>
          <c:h val="0.915504391082960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uniform_random_1000</c:v>
                </c:pt>
                <c:pt idx="1">
                  <c:v>mixed_random_1000</c:v>
                </c:pt>
                <c:pt idx="2">
                  <c:v>mixed_log_1000</c:v>
                </c:pt>
              </c:strCache>
            </c:strRef>
          </c:cat>
          <c:val>
            <c:numRef>
              <c:f>Sheet1!$B$2:$B$4</c:f>
              <c:numCache>
                <c:formatCode>0.00E+00</c:formatCode>
                <c:ptCount val="3"/>
                <c:pt idx="0">
                  <c:v>1.030287E-13</c:v>
                </c:pt>
                <c:pt idx="1">
                  <c:v>1.117587E-8</c:v>
                </c:pt>
                <c:pt idx="2">
                  <c:v>1.0728839999999999E-6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D1-439E-AFEB-DEA8608424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uniform_random_1000</c:v>
                </c:pt>
                <c:pt idx="1">
                  <c:v>mixed_random_1000</c:v>
                </c:pt>
                <c:pt idx="2">
                  <c:v>mixed_log_1000</c:v>
                </c:pt>
              </c:strCache>
            </c:strRef>
          </c:cat>
          <c:val>
            <c:numRef>
              <c:f>Sheet1!$C$2:$C$4</c:f>
              <c:numCache>
                <c:formatCode>0.00E+00</c:formatCode>
                <c:ptCount val="3"/>
                <c:pt idx="0">
                  <c:v>7.1054269999999997E-15</c:v>
                </c:pt>
                <c:pt idx="1">
                  <c:v>1.862645E-9</c:v>
                </c:pt>
                <c:pt idx="2">
                  <c:v>2.3841859999999999E-7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D1-439E-AFEB-DEA8608424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uniform_random_1000</c:v>
                </c:pt>
                <c:pt idx="1">
                  <c:v>mixed_random_1000</c:v>
                </c:pt>
                <c:pt idx="2">
                  <c:v>mixed_log_1000</c:v>
                </c:pt>
              </c:strCache>
            </c:strRef>
          </c:cat>
          <c:val>
            <c:numRef>
              <c:f>Sheet1!$D$2:$D$4</c:f>
              <c:numCache>
                <c:formatCode>0.00E+00</c:formatCode>
                <c:ptCount val="3"/>
                <c:pt idx="0">
                  <c:v>7.1054269999999997E-15</c:v>
                </c:pt>
                <c:pt idx="1">
                  <c:v>1.862645E-9</c:v>
                </c:pt>
                <c:pt idx="2">
                  <c:v>2.3841859999999999E-7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D1-439E-AFEB-DEA8608424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16854880"/>
        <c:crossesAt val="1.000000000000001E-17"/>
        <c:auto val="1"/>
        <c:lblAlgn val="ctr"/>
        <c:lblOffset val="100"/>
        <c:noMultiLvlLbl val="0"/>
      </c:catAx>
      <c:valAx>
        <c:axId val="716854880"/>
        <c:scaling>
          <c:logBase val="10"/>
          <c:orientation val="minMax"/>
          <c:max val="1.0000000000000004E-5"/>
          <c:min val="1.0000000000000009E-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858638618868016"/>
          <c:y val="0.25209941840741756"/>
          <c:w val="0.33141361381131984"/>
          <c:h val="0.210201825543067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md_2d_500_500</c:v>
                </c:pt>
                <c:pt idx="1">
                  <c:v>md_3d_300_500</c:v>
                </c:pt>
                <c:pt idx="2">
                  <c:v>md_3d_1000_500</c:v>
                </c:pt>
              </c:strCache>
            </c:strRef>
          </c:cat>
          <c:val>
            <c:numRef>
              <c:f>Sheet1!$B$2:$B$4</c:f>
              <c:numCache>
                <c:formatCode>0.00E+00</c:formatCode>
                <c:ptCount val="3"/>
                <c:pt idx="0">
                  <c:v>7.2743630000000002E-16</c:v>
                </c:pt>
                <c:pt idx="1">
                  <c:v>4.7511199999999998E-16</c:v>
                </c:pt>
                <c:pt idx="2">
                  <c:v>6.741512E-16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E8-4233-8E6F-6564386496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md_2d_500_500</c:v>
                </c:pt>
                <c:pt idx="1">
                  <c:v>md_3d_300_500</c:v>
                </c:pt>
                <c:pt idx="2">
                  <c:v>md_3d_1000_500</c:v>
                </c:pt>
              </c:strCache>
            </c:strRef>
          </c:cat>
          <c:val>
            <c:numRef>
              <c:f>Sheet1!$C$2:$C$4</c:f>
              <c:numCache>
                <c:formatCode>0.00E+00</c:formatCode>
                <c:ptCount val="3"/>
                <c:pt idx="0">
                  <c:v>5.9992839999999996E-17</c:v>
                </c:pt>
                <c:pt idx="1">
                  <c:v>6.7441749999999998E-17</c:v>
                </c:pt>
                <c:pt idx="2">
                  <c:v>2.4940849999999999E-17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E8-4233-8E6F-6564386496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md_2d_500_500</c:v>
                </c:pt>
                <c:pt idx="1">
                  <c:v>md_3d_300_500</c:v>
                </c:pt>
                <c:pt idx="2">
                  <c:v>md_3d_1000_500</c:v>
                </c:pt>
              </c:strCache>
            </c:strRef>
          </c:cat>
          <c:val>
            <c:numRef>
              <c:f>Sheet1!$D$2:$D$4</c:f>
              <c:numCache>
                <c:formatCode>0.00E+00</c:formatCode>
                <c:ptCount val="3"/>
                <c:pt idx="0">
                  <c:v>1.199852E-16</c:v>
                </c:pt>
                <c:pt idx="1">
                  <c:v>3.4224169999999999E-17</c:v>
                </c:pt>
                <c:pt idx="2">
                  <c:v>2.435163E-17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E8-4233-8E6F-6564386496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16854880"/>
        <c:crossesAt val="1.000000000000001E-17"/>
        <c:auto val="1"/>
        <c:lblAlgn val="ctr"/>
        <c:lblOffset val="100"/>
        <c:noMultiLvlLbl val="0"/>
      </c:catAx>
      <c:valAx>
        <c:axId val="716854880"/>
        <c:scaling>
          <c:logBase val="10"/>
          <c:orientation val="minMax"/>
          <c:max val="1.0000000000000009E-15"/>
          <c:min val="1.000000000000001E-1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md_2d_500_500</c:v>
                </c:pt>
                <c:pt idx="1">
                  <c:v>md_3d_300_500</c:v>
                </c:pt>
                <c:pt idx="2">
                  <c:v>md_3d_1000_500</c:v>
                </c:pt>
              </c:strCache>
            </c:strRef>
          </c:cat>
          <c:val>
            <c:numRef>
              <c:f>Sheet1!$B$2:$B$4</c:f>
              <c:numCache>
                <c:formatCode>0.00E+00</c:formatCode>
                <c:ptCount val="3"/>
                <c:pt idx="0">
                  <c:v>1.7328050000000001E-13</c:v>
                </c:pt>
                <c:pt idx="1">
                  <c:v>1.596243E-14</c:v>
                </c:pt>
                <c:pt idx="2">
                  <c:v>3.6169469999999998E-13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43-4554-B8E4-51F6A4F168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md_2d_500_500</c:v>
                </c:pt>
                <c:pt idx="1">
                  <c:v>md_3d_300_500</c:v>
                </c:pt>
                <c:pt idx="2">
                  <c:v>md_3d_1000_500</c:v>
                </c:pt>
              </c:strCache>
            </c:strRef>
          </c:cat>
          <c:val>
            <c:numRef>
              <c:f>Sheet1!$C$2:$C$4</c:f>
              <c:numCache>
                <c:formatCode>0.00E+00</c:formatCode>
                <c:ptCount val="3"/>
                <c:pt idx="0">
                  <c:v>3.8365290000000001E-14</c:v>
                </c:pt>
                <c:pt idx="1">
                  <c:v>3.7558589999999996E-15</c:v>
                </c:pt>
                <c:pt idx="2">
                  <c:v>4.600326E-14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43-4554-B8E4-51F6A4F168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md_2d_500_500</c:v>
                </c:pt>
                <c:pt idx="1">
                  <c:v>md_3d_300_500</c:v>
                </c:pt>
                <c:pt idx="2">
                  <c:v>md_3d_1000_500</c:v>
                </c:pt>
              </c:strCache>
            </c:strRef>
          </c:cat>
          <c:val>
            <c:numRef>
              <c:f>Sheet1!$D$2:$D$4</c:f>
              <c:numCache>
                <c:formatCode>0.00E+00</c:formatCode>
                <c:ptCount val="3"/>
                <c:pt idx="0">
                  <c:v>2.5033819999999999E-14</c:v>
                </c:pt>
                <c:pt idx="1">
                  <c:v>2.5038889999999999E-15</c:v>
                </c:pt>
                <c:pt idx="2">
                  <c:v>1.209872E-14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43-4554-B8E4-51F6A4F168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16854880"/>
        <c:crossesAt val="1.0000000000000009E-15"/>
        <c:auto val="1"/>
        <c:lblAlgn val="ctr"/>
        <c:lblOffset val="100"/>
        <c:noMultiLvlLbl val="0"/>
      </c:catAx>
      <c:valAx>
        <c:axId val="716854880"/>
        <c:scaling>
          <c:logBase val="10"/>
          <c:orientation val="minMax"/>
          <c:max val="1.0000000000000006E-12"/>
          <c:min val="1.0000000000000009E-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70786518009015"/>
          <c:y val="4.8134920634920635E-2"/>
          <c:w val="0.46130982915692015"/>
          <c:h val="0.903730158730158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md_2d_500_500</c:v>
                </c:pt>
                <c:pt idx="1">
                  <c:v>md_3d_300_500</c:v>
                </c:pt>
                <c:pt idx="2">
                  <c:v>md_3d_1000_500</c:v>
                </c:pt>
              </c:strCache>
            </c:strRef>
          </c:cat>
          <c:val>
            <c:numRef>
              <c:f>Sheet1!$B$2:$B$4</c:f>
              <c:numCache>
                <c:formatCode>0.00E+00</c:formatCode>
                <c:ptCount val="3"/>
                <c:pt idx="0">
                  <c:v>6.7830019999999996E-16</c:v>
                </c:pt>
                <c:pt idx="1">
                  <c:v>6.887834E-16</c:v>
                </c:pt>
                <c:pt idx="2">
                  <c:v>1.560169E-27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E4-4084-93A0-E110F0FED6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md_2d_500_500</c:v>
                </c:pt>
                <c:pt idx="1">
                  <c:v>md_3d_300_500</c:v>
                </c:pt>
                <c:pt idx="2">
                  <c:v>md_3d_1000_500</c:v>
                </c:pt>
              </c:strCache>
            </c:strRef>
          </c:cat>
          <c:val>
            <c:numRef>
              <c:f>Sheet1!$C$2:$C$4</c:f>
              <c:numCache>
                <c:formatCode>0.00E+00</c:formatCode>
                <c:ptCount val="3"/>
                <c:pt idx="0">
                  <c:v>1.7255599999999999E-16</c:v>
                </c:pt>
                <c:pt idx="1">
                  <c:v>1.323055E-16</c:v>
                </c:pt>
                <c:pt idx="2">
                  <c:v>8.8166420000000004E-28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E4-4084-93A0-E110F0FED6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md_2d_500_500</c:v>
                </c:pt>
                <c:pt idx="1">
                  <c:v>md_3d_300_500</c:v>
                </c:pt>
                <c:pt idx="2">
                  <c:v>md_3d_1000_500</c:v>
                </c:pt>
              </c:strCache>
            </c:strRef>
          </c:cat>
          <c:val>
            <c:numRef>
              <c:f>Sheet1!$D$2:$D$4</c:f>
              <c:numCache>
                <c:formatCode>0.00E+00</c:formatCode>
                <c:ptCount val="3"/>
                <c:pt idx="0">
                  <c:v>1.968472E-16</c:v>
                </c:pt>
                <c:pt idx="1">
                  <c:v>2.0455259999999999E-16</c:v>
                </c:pt>
                <c:pt idx="2">
                  <c:v>1.913018E-27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E4-4084-93A0-E110F0FED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16854880"/>
        <c:crossesAt val="1.0000000000000015E-28"/>
        <c:auto val="1"/>
        <c:lblAlgn val="ctr"/>
        <c:lblOffset val="100"/>
        <c:noMultiLvlLbl val="0"/>
      </c:catAx>
      <c:valAx>
        <c:axId val="716854880"/>
        <c:scaling>
          <c:logBase val="10"/>
          <c:orientation val="minMax"/>
          <c:max val="1.0000000000000008E-14"/>
          <c:min val="1.0000000000000015E-2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188909355690507"/>
          <c:y val="5.4157917760279971E-2"/>
          <c:w val="0.29155439795563176"/>
          <c:h val="0.415493688288963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41752310967042"/>
          <c:y val="4.769996621854896E-2"/>
          <c:w val="0.49361393691743255"/>
          <c:h val="0.771091120052871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 formatCode="0.00E+00">
                  <c:v>1</c:v>
                </c:pt>
                <c:pt idx="1">
                  <c:v>4.0156011526615352</c:v>
                </c:pt>
                <c:pt idx="2">
                  <c:v>6.9133181760045082</c:v>
                </c:pt>
                <c:pt idx="3">
                  <c:v>7.1854648839367643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65-4C5F-B6A1-ADD09E3065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0.7713007576977573</c:v>
                </c:pt>
                <c:pt idx="1">
                  <c:v>2.7185893095942837</c:v>
                </c:pt>
                <c:pt idx="2">
                  <c:v>4.3304046860996541</c:v>
                </c:pt>
                <c:pt idx="3">
                  <c:v>4.7538672276307423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65-4C5F-B6A1-ADD09E3065A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0.66965509742785567</c:v>
                </c:pt>
                <c:pt idx="1">
                  <c:v>2.2659592659919121</c:v>
                </c:pt>
                <c:pt idx="2">
                  <c:v>3.5691573978773543</c:v>
                </c:pt>
                <c:pt idx="3">
                  <c:v>3.8937877607355138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65-4C5F-B6A1-ADD09E306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r-Cyrl-RS" sz="1200" dirty="0"/>
                  <a:t>Број нити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6854880"/>
        <c:crosses val="autoZero"/>
        <c:auto val="1"/>
        <c:lblAlgn val="ctr"/>
        <c:lblOffset val="100"/>
        <c:noMultiLvlLbl val="0"/>
      </c:catAx>
      <c:valAx>
        <c:axId val="716854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9013272766097578"/>
          <c:y val="0.29413023291242246"/>
          <c:w val="0.30249121793214617"/>
          <c:h val="0.403874432086123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 formatCode="0.00">
                  <c:v>1</c:v>
                </c:pt>
                <c:pt idx="1">
                  <c:v>3.3682891911238371</c:v>
                </c:pt>
                <c:pt idx="2">
                  <c:v>3.6112816577129703</c:v>
                </c:pt>
                <c:pt idx="3">
                  <c:v>3.6168332052267491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38-43F0-92A7-823BA04B80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0.26566734417344173</c:v>
                </c:pt>
                <c:pt idx="1">
                  <c:v>0.95262678408745827</c:v>
                </c:pt>
                <c:pt idx="2">
                  <c:v>1.6554089709762534</c:v>
                </c:pt>
                <c:pt idx="3">
                  <c:v>2.2775895450145209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38-43F0-92A7-823BA04B801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0.50111821086261987</c:v>
                </c:pt>
                <c:pt idx="1">
                  <c:v>1.7331491712707181</c:v>
                </c:pt>
                <c:pt idx="2">
                  <c:v>2.3060524381279097</c:v>
                </c:pt>
                <c:pt idx="3">
                  <c:v>2.3831349708787037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38-43F0-92A7-823BA04B80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r-Cyrl-RS" sz="1200" dirty="0"/>
                  <a:t>Број нити</a:t>
                </a:r>
                <a:endParaRPr lang="en-US" sz="12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6854880"/>
        <c:crosses val="autoZero"/>
        <c:auto val="1"/>
        <c:lblAlgn val="ctr"/>
        <c:lblOffset val="100"/>
        <c:noMultiLvlLbl val="0"/>
      </c:catAx>
      <c:valAx>
        <c:axId val="716854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Наивно сабирање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 formatCode="0.00">
                  <c:v>1</c:v>
                </c:pt>
                <c:pt idx="1">
                  <c:v>3.44</c:v>
                </c:pt>
                <c:pt idx="2">
                  <c:v>3.44</c:v>
                </c:pt>
                <c:pt idx="3">
                  <c:v>3.1851851851851851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66-4D51-BBF0-658FA117A9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Каханово сабирање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0.25748502994011979</c:v>
                </c:pt>
                <c:pt idx="1">
                  <c:v>0.9885057471264368</c:v>
                </c:pt>
                <c:pt idx="2">
                  <c:v>1.8695652173913044</c:v>
                </c:pt>
                <c:pt idx="3">
                  <c:v>3.44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66-4D51-BBF0-658FA117A9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Нојмајерово сабирање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0.81904761904761902</c:v>
                </c:pt>
                <c:pt idx="1">
                  <c:v>3.0714285714285716</c:v>
                </c:pt>
                <c:pt idx="2">
                  <c:v>3.7391304347826089</c:v>
                </c:pt>
                <c:pt idx="3">
                  <c:v>3.7391304347826089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66-4D51-BBF0-658FA117A9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134336"/>
        <c:axId val="716854880"/>
      </c:barChart>
      <c:catAx>
        <c:axId val="7581343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r-Cyrl-RS" sz="1200" dirty="0"/>
                  <a:t>Број нити</a:t>
                </a:r>
                <a:endParaRPr lang="en-US" sz="12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6854880"/>
        <c:crosses val="autoZero"/>
        <c:auto val="1"/>
        <c:lblAlgn val="ctr"/>
        <c:lblOffset val="100"/>
        <c:noMultiLvlLbl val="0"/>
      </c:catAx>
      <c:valAx>
        <c:axId val="716854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13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0.6929</cdr:x>
      <cdr:y>0.45804</cdr:y>
    </cdr:from>
    <cdr:to>
      <cdr:x>0.97994</cdr:x>
      <cdr:y>0.65279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0E7643ED-7875-CABE-97AD-583DAEB20CEF}"/>
            </a:ext>
          </a:extLst>
        </cdr:cNvPr>
        <cdr:cNvSpPr txBox="1"/>
      </cdr:nvSpPr>
      <cdr:spPr>
        <a:xfrm xmlns:a="http://schemas.openxmlformats.org/drawingml/2006/main">
          <a:off x="4367719" y="1670199"/>
          <a:ext cx="1809345" cy="71011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0.70525</cdr:x>
      <cdr:y>0.46605</cdr:y>
    </cdr:from>
    <cdr:to>
      <cdr:x>1</cdr:x>
      <cdr:y>0.65012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3A2ABFE9-5B6F-E0F9-A5B1-051A1056A490}"/>
            </a:ext>
          </a:extLst>
        </cdr:cNvPr>
        <cdr:cNvSpPr txBox="1"/>
      </cdr:nvSpPr>
      <cdr:spPr>
        <a:xfrm xmlns:a="http://schemas.openxmlformats.org/drawingml/2006/main">
          <a:off x="4445541" y="1699382"/>
          <a:ext cx="1857984" cy="67120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BE73C-1EDF-426A-9EB8-2EFC79F39E6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4F0AB-7CB3-4EFC-B9AD-8AF1134B4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6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4F0AB-7CB3-4EFC-B9AD-8AF1134B448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2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A37D6A15-2455-C58D-BEFB-420D1328D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0753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3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8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95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9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1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7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5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91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9932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61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78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54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1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86945-3905-4C05-8A05-4E157B9CF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2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9766F9D-278D-4AA4-8340-30FCEA48735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4663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18" r:id="rId14"/>
    <p:sldLayoutId id="2147484019" r:id="rId15"/>
    <p:sldLayoutId id="2147484020" r:id="rId16"/>
    <p:sldLayoutId id="21474840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910A8-BD8F-B03D-6014-01F10D045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838" y="1350524"/>
            <a:ext cx="11400817" cy="3329581"/>
          </a:xfrm>
        </p:spPr>
        <p:txBody>
          <a:bodyPr/>
          <a:lstStyle/>
          <a:p>
            <a:r>
              <a:rPr lang="sr-Cyrl-RS" sz="3400" dirty="0"/>
              <a:t>Дипломски рад</a:t>
            </a:r>
            <a:br>
              <a:rPr lang="en-US" sz="3400" dirty="0"/>
            </a:br>
            <a:r>
              <a:rPr lang="ru-RU" sz="3400" dirty="0"/>
              <a:t>ПОБОЉШАЊЕ ТАЧНОСТИ НУМЕРИЧКИХ РЕЗУЛТАТА У ПАРАЛЕЛНОМ ОКРУЖЕЊУ ПРИМЕНОМ КАХАНОВОГ И НОЈМАЈЕРОВОГ АЛГОРИТМА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0AC7C-CAE4-00CD-4BDE-C4BC5334C4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sr-Cyrl-RS" dirty="0"/>
              <a:t>Урош Недељковић 2022/0058</a:t>
            </a:r>
          </a:p>
          <a:p>
            <a:r>
              <a:rPr lang="sr-Cyrl-RS" dirty="0"/>
              <a:t>Ментор: проф. др Марко Мишић</a:t>
            </a:r>
            <a:endParaRPr lang="en-US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52BE1BC-D173-EFA7-CF13-827052C6E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288" y="397941"/>
            <a:ext cx="1539373" cy="19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C4F9-B5CB-FF9D-BA45-14F8A76F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pPr algn="ctr"/>
            <a:r>
              <a:rPr lang="sr-Cyrl-RS" dirty="0"/>
              <a:t>Мотивација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1146F-2727-BD2D-944D-FD58503DA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326532"/>
            <a:ext cx="8946541" cy="4195481"/>
          </a:xfrm>
        </p:spPr>
        <p:txBody>
          <a:bodyPr>
            <a:normAutofit/>
          </a:bodyPr>
          <a:lstStyle/>
          <a:p>
            <a:r>
              <a:rPr lang="sr-Cyrl-RS" sz="2200" dirty="0"/>
              <a:t>Представљање бројева у покретном зарезу</a:t>
            </a:r>
          </a:p>
          <a:p>
            <a:r>
              <a:rPr lang="sr-Cyrl-RS" sz="2200" dirty="0"/>
              <a:t>Недостатак асоцијативности операције сабирања</a:t>
            </a:r>
          </a:p>
          <a:p>
            <a:r>
              <a:rPr lang="sr-Cyrl-RS" sz="2200" dirty="0"/>
              <a:t>Утицај паралелног окружења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645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5568-4BEE-587A-899E-BFFD0D4EE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pPr algn="ctr"/>
            <a:r>
              <a:rPr lang="sr-Cyrl-RS" dirty="0"/>
              <a:t>Циљ рада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5EB96-9953-270C-1304-B83EDB136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Примена алгоритама за стабилно сумирање</a:t>
            </a:r>
          </a:p>
          <a:p>
            <a:r>
              <a:rPr lang="sr-Cyrl-RS" dirty="0"/>
              <a:t>Утицај на тачност и брзину</a:t>
            </a:r>
          </a:p>
          <a:p>
            <a:r>
              <a:rPr lang="sr-Cyrl-RS" dirty="0"/>
              <a:t>Тестирано на 3 апликације:</a:t>
            </a:r>
          </a:p>
          <a:p>
            <a:pPr lvl="1"/>
            <a:r>
              <a:rPr lang="sr-Cyrl-RS" dirty="0"/>
              <a:t>Сумирање низа</a:t>
            </a:r>
          </a:p>
          <a:p>
            <a:pPr lvl="1"/>
            <a:r>
              <a:rPr lang="sr-Cyrl-RS" dirty="0"/>
              <a:t>Множење матрица</a:t>
            </a:r>
          </a:p>
          <a:p>
            <a:pPr lvl="1"/>
            <a:r>
              <a:rPr lang="sr-Cyrl-RS" dirty="0"/>
              <a:t>Молекуларна динамика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078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48491C-00A1-DB5C-3374-B370944C7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52918"/>
            <a:ext cx="8946541" cy="4195481"/>
          </a:xfrm>
        </p:spPr>
        <p:txBody>
          <a:bodyPr/>
          <a:lstStyle/>
          <a:p>
            <a:r>
              <a:rPr lang="sr-Cyrl-RS" dirty="0"/>
              <a:t>Компензација грешке у сваком кораку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732CA4-DB09-2E18-92C1-B8337E75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pPr algn="ctr"/>
            <a:r>
              <a:rPr lang="sr-Cyrl-RS" dirty="0" err="1"/>
              <a:t>Каханов</a:t>
            </a:r>
            <a:r>
              <a:rPr lang="sr-Cyrl-RS" dirty="0"/>
              <a:t> алгоритам</a:t>
            </a:r>
            <a:endParaRPr lang="en-US" dirty="0"/>
          </a:p>
        </p:txBody>
      </p:sp>
      <p:sp useBgFill="1">
        <p:nvSpPr>
          <p:cNvPr id="4" name="TextBox 3">
            <a:extLst>
              <a:ext uri="{FF2B5EF4-FFF2-40B4-BE49-F238E27FC236}">
                <a16:creationId xmlns:a16="http://schemas.microsoft.com/office/drawing/2014/main" id="{A5953A5B-4EB8-954A-8D75-5BB71FE5F94F}"/>
              </a:ext>
            </a:extLst>
          </p:cNvPr>
          <p:cNvSpPr txBox="1"/>
          <p:nvPr/>
        </p:nvSpPr>
        <p:spPr>
          <a:xfrm>
            <a:off x="3242433" y="2996496"/>
            <a:ext cx="4212077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S = X[1]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C = 0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for j = 2 to N {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	Y = X[j] - C 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	T = S + Y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	C = (T - S) - Y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	S = 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185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B99DE9-D8A8-7269-0B8E-4E826D71C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04280"/>
            <a:ext cx="8946541" cy="4195481"/>
          </a:xfrm>
        </p:spPr>
        <p:txBody>
          <a:bodyPr/>
          <a:lstStyle/>
          <a:p>
            <a:r>
              <a:rPr lang="sr-Cyrl-RS" dirty="0"/>
              <a:t>Побољшање </a:t>
            </a:r>
            <a:r>
              <a:rPr lang="sr-Cyrl-RS" dirty="0" err="1"/>
              <a:t>Кахановог</a:t>
            </a:r>
            <a:r>
              <a:rPr lang="sr-Cyrl-RS" dirty="0"/>
              <a:t> алгоритма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0D26E7-FB48-3715-9ECE-E8064132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Cyrl-RS" dirty="0" err="1"/>
              <a:t>Нојмајеров</a:t>
            </a:r>
            <a:r>
              <a:rPr lang="sr-Cyrl-RS" dirty="0"/>
              <a:t> алгоритам</a:t>
            </a:r>
            <a:endParaRPr lang="en-US" dirty="0"/>
          </a:p>
        </p:txBody>
      </p:sp>
      <p:sp useBgFill="1">
        <p:nvSpPr>
          <p:cNvPr id="5" name="TextBox 4">
            <a:extLst>
              <a:ext uri="{FF2B5EF4-FFF2-40B4-BE49-F238E27FC236}">
                <a16:creationId xmlns:a16="http://schemas.microsoft.com/office/drawing/2014/main" id="{4B0228F0-5303-A589-5075-5F4A6E34F2B5}"/>
              </a:ext>
            </a:extLst>
          </p:cNvPr>
          <p:cNvSpPr txBox="1"/>
          <p:nvPr/>
        </p:nvSpPr>
        <p:spPr>
          <a:xfrm>
            <a:off x="3459804" y="2589380"/>
            <a:ext cx="5272391" cy="369331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S = X[1]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C = 0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for j = 2 to N {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T = S + X[j]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if (|S| &gt;= |X[j]|) {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    C = C + ((S - T) + X[j])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} else {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    C = C + ((X[j] - T) + S)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}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S = 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S = S + C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87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490528-15D8-7F1A-FC42-CE64C1B77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Кориснички дефинисана </a:t>
            </a:r>
            <a:r>
              <a:rPr lang="en-US" dirty="0"/>
              <a:t>OpenMP</a:t>
            </a:r>
            <a:r>
              <a:rPr lang="sr-Cyrl-RS" dirty="0"/>
              <a:t> редукција</a:t>
            </a:r>
          </a:p>
          <a:p>
            <a:r>
              <a:rPr lang="sr-Cyrl-RS" dirty="0"/>
              <a:t>Директан позив функција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09E202-3A0C-E813-1F04-2FA991875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Cyrl-RS" dirty="0"/>
              <a:t>Начин примене у паралелном окружењу</a:t>
            </a:r>
            <a:endParaRPr lang="en-US" dirty="0"/>
          </a:p>
        </p:txBody>
      </p:sp>
      <p:sp useBgFill="1">
        <p:nvSpPr>
          <p:cNvPr id="4" name="TextBox 3">
            <a:extLst>
              <a:ext uri="{FF2B5EF4-FFF2-40B4-BE49-F238E27FC236}">
                <a16:creationId xmlns:a16="http://schemas.microsoft.com/office/drawing/2014/main" id="{1A077BD6-02CF-5493-8F72-7B3D5DD3A43F}"/>
              </a:ext>
            </a:extLst>
          </p:cNvPr>
          <p:cNvSpPr txBox="1"/>
          <p:nvPr/>
        </p:nvSpPr>
        <p:spPr>
          <a:xfrm>
            <a:off x="2540540" y="3628416"/>
            <a:ext cx="7110920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#pragma </a:t>
            </a:r>
            <a:r>
              <a:rPr lang="en-GB" dirty="0" err="1">
                <a:latin typeface="Consolas" panose="020B0609020204030204" pitchFamily="49" charset="0"/>
              </a:rPr>
              <a:t>omp</a:t>
            </a:r>
            <a:r>
              <a:rPr lang="en-GB" dirty="0">
                <a:latin typeface="Consolas" panose="020B0609020204030204" pitchFamily="49" charset="0"/>
              </a:rPr>
              <a:t> declare reduction(</a:t>
            </a:r>
            <a:r>
              <a:rPr lang="en-GB" dirty="0" err="1">
                <a:latin typeface="Consolas" panose="020B0609020204030204" pitchFamily="49" charset="0"/>
              </a:rPr>
              <a:t>kahanRed</a:t>
            </a:r>
            <a:r>
              <a:rPr lang="en-GB" dirty="0">
                <a:latin typeface="Consolas" panose="020B0609020204030204" pitchFamily="49" charset="0"/>
              </a:rPr>
              <a:t> : </a:t>
            </a:r>
            <a:r>
              <a:rPr lang="en-GB" dirty="0" err="1">
                <a:latin typeface="Consolas" panose="020B0609020204030204" pitchFamily="49" charset="0"/>
              </a:rPr>
              <a:t>KahanAcc</a:t>
            </a:r>
            <a:r>
              <a:rPr lang="en-GB" dirty="0">
                <a:latin typeface="Consolas" panose="020B0609020204030204" pitchFamily="49" charset="0"/>
              </a:rPr>
              <a:t> : \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 err="1">
                <a:latin typeface="Consolas" panose="020B0609020204030204" pitchFamily="49" charset="0"/>
              </a:rPr>
              <a:t>omp_out</a:t>
            </a:r>
            <a:r>
              <a:rPr lang="en-GB" dirty="0">
                <a:latin typeface="Consolas" panose="020B0609020204030204" pitchFamily="49" charset="0"/>
              </a:rPr>
              <a:t> = </a:t>
            </a:r>
            <a:r>
              <a:rPr lang="en-GB" dirty="0" err="1">
                <a:latin typeface="Consolas" panose="020B0609020204030204" pitchFamily="49" charset="0"/>
              </a:rPr>
              <a:t>kahan_update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 err="1">
                <a:latin typeface="Consolas" panose="020B0609020204030204" pitchFamily="49" charset="0"/>
              </a:rPr>
              <a:t>omp_out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dirty="0" err="1">
                <a:latin typeface="Consolas" panose="020B0609020204030204" pitchFamily="49" charset="0"/>
              </a:rPr>
              <a:t>omp_in.sum</a:t>
            </a:r>
            <a:r>
              <a:rPr lang="en-GB" dirty="0">
                <a:latin typeface="Consolas" panose="020B0609020204030204" pitchFamily="49" charset="0"/>
              </a:rPr>
              <a:t>), \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 err="1">
                <a:latin typeface="Consolas" panose="020B0609020204030204" pitchFamily="49" charset="0"/>
              </a:rPr>
              <a:t>omp_out.corr</a:t>
            </a:r>
            <a:r>
              <a:rPr lang="en-GB" dirty="0">
                <a:latin typeface="Consolas" panose="020B0609020204030204" pitchFamily="49" charset="0"/>
              </a:rPr>
              <a:t> += </a:t>
            </a:r>
            <a:r>
              <a:rPr lang="en-GB" dirty="0" err="1">
                <a:latin typeface="Consolas" panose="020B0609020204030204" pitchFamily="49" charset="0"/>
              </a:rPr>
              <a:t>omp_in.corr</a:t>
            </a:r>
            <a:r>
              <a:rPr lang="en-GB" dirty="0">
                <a:latin typeface="Consolas" panose="020B0609020204030204" pitchFamily="49" charset="0"/>
              </a:rPr>
              <a:t>) \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    initializer(</a:t>
            </a:r>
            <a:r>
              <a:rPr lang="en-GB" dirty="0" err="1">
                <a:latin typeface="Consolas" panose="020B0609020204030204" pitchFamily="49" charset="0"/>
              </a:rPr>
              <a:t>omp_priv</a:t>
            </a:r>
            <a:r>
              <a:rPr lang="en-GB" dirty="0">
                <a:latin typeface="Consolas" panose="020B0609020204030204" pitchFamily="49" charset="0"/>
              </a:rPr>
              <a:t> = {0.0, 0.0})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44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B1348B-68D7-86CE-910F-3338B73F0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Референтне вредност (</a:t>
            </a:r>
            <a:r>
              <a:rPr lang="en-US" dirty="0"/>
              <a:t>float128)</a:t>
            </a:r>
            <a:endParaRPr lang="sr-Cyrl-RS" dirty="0"/>
          </a:p>
          <a:p>
            <a:r>
              <a:rPr lang="sr-Cyrl-RS" dirty="0"/>
              <a:t>Релативна грешка</a:t>
            </a:r>
          </a:p>
          <a:p>
            <a:r>
              <a:rPr lang="sr-Cyrl-RS" dirty="0"/>
              <a:t>Глобална релативна грешка</a:t>
            </a:r>
          </a:p>
          <a:p>
            <a:r>
              <a:rPr lang="sr-Cyrl-RS" dirty="0"/>
              <a:t>Максимална релативна и апсолутна грешка</a:t>
            </a:r>
          </a:p>
          <a:p>
            <a:r>
              <a:rPr lang="sr-Cyrl-RS" dirty="0"/>
              <a:t>Укупна сума свих сила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41E60F-B31A-B8B4-1048-5D54EE7C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Мерење грешке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097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B1AEA-1EE3-88B6-29D2-62965694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649011-BBF9-8ABF-0973-C7A13D50B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62446"/>
            <a:ext cx="9404723" cy="1400530"/>
          </a:xfrm>
        </p:spPr>
        <p:txBody>
          <a:bodyPr/>
          <a:lstStyle/>
          <a:p>
            <a:r>
              <a:rPr lang="sr-Cyrl-RS" sz="3800" dirty="0"/>
              <a:t>Графици релативне грешке за апликацију сумирање низа</a:t>
            </a:r>
            <a:endParaRPr lang="en-US" sz="3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8AFC7-864B-2EE4-48C5-3BD7A100C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838" y="1853248"/>
            <a:ext cx="2946866" cy="576262"/>
          </a:xfrm>
        </p:spPr>
        <p:txBody>
          <a:bodyPr/>
          <a:lstStyle/>
          <a:p>
            <a:r>
              <a:rPr lang="en-US" sz="1800" dirty="0"/>
              <a:t>mixed_random_10m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63FF15-AE19-6EAC-070B-18C482CF7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19820" y="1853248"/>
            <a:ext cx="2936241" cy="576262"/>
          </a:xfrm>
        </p:spPr>
        <p:txBody>
          <a:bodyPr/>
          <a:lstStyle/>
          <a:p>
            <a:r>
              <a:rPr lang="sr-Cyrl-RS" sz="1800" dirty="0"/>
              <a:t>mixed_random_100m</a:t>
            </a:r>
            <a:endParaRPr lang="en-US" sz="1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1D8592-2CBD-BB6F-F8A8-CE8D46457B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4882" y="1853248"/>
            <a:ext cx="2932113" cy="576262"/>
          </a:xfrm>
        </p:spPr>
        <p:txBody>
          <a:bodyPr/>
          <a:lstStyle/>
          <a:p>
            <a:r>
              <a:rPr lang="en-US" sz="1800" dirty="0"/>
              <a:t>mixed_100m_log_ranges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8948110-8AF7-12A0-1CD0-CB9C9A5DE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0421712"/>
              </p:ext>
            </p:extLst>
          </p:nvPr>
        </p:nvGraphicFramePr>
        <p:xfrm>
          <a:off x="319226" y="2610771"/>
          <a:ext cx="3687444" cy="3651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0DC44D8-90DE-2457-035C-AB41A08E76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42342"/>
              </p:ext>
            </p:extLst>
          </p:nvPr>
        </p:nvGraphicFramePr>
        <p:xfrm>
          <a:off x="3589633" y="2721340"/>
          <a:ext cx="3166428" cy="3432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CA0C489B-EB41-2165-BC00-F0224A9D7F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3863117"/>
              </p:ext>
            </p:extLst>
          </p:nvPr>
        </p:nvGraphicFramePr>
        <p:xfrm>
          <a:off x="6829719" y="2673159"/>
          <a:ext cx="4856443" cy="3534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DC36835-DD39-41D9-AD00-75285A5ED7D2}"/>
              </a:ext>
            </a:extLst>
          </p:cNvPr>
          <p:cNvSpPr txBox="1"/>
          <p:nvPr/>
        </p:nvSpPr>
        <p:spPr>
          <a:xfrm>
            <a:off x="505838" y="6154071"/>
            <a:ext cx="3239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1200" dirty="0"/>
              <a:t>Број нити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30986B-7389-4D6B-173A-40E309E5427B}"/>
              </a:ext>
            </a:extLst>
          </p:cNvPr>
          <p:cNvSpPr txBox="1"/>
          <p:nvPr/>
        </p:nvSpPr>
        <p:spPr>
          <a:xfrm>
            <a:off x="3712483" y="6123125"/>
            <a:ext cx="3239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1200" dirty="0"/>
              <a:t>Број нити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254B3D-7AFB-D7D0-F94B-FF8EE9C96957}"/>
              </a:ext>
            </a:extLst>
          </p:cNvPr>
          <p:cNvSpPr txBox="1"/>
          <p:nvPr/>
        </p:nvSpPr>
        <p:spPr>
          <a:xfrm>
            <a:off x="6951794" y="6123124"/>
            <a:ext cx="3239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1200" dirty="0"/>
              <a:t>Број нити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24847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6A5DA3-878A-EFDA-4BFD-D79726682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3800" dirty="0"/>
              <a:t>Графици грешака за апликацију множење матрица</a:t>
            </a:r>
            <a:endParaRPr lang="en-US" sz="380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78D1A38-3D0D-8FE0-7555-F4E43917B59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11820890"/>
              </p:ext>
            </p:extLst>
          </p:nvPr>
        </p:nvGraphicFramePr>
        <p:xfrm>
          <a:off x="568292" y="2266545"/>
          <a:ext cx="4395788" cy="3503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4137C99-A67B-E460-2B07-E0CCC6D9EF2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97621634"/>
              </p:ext>
            </p:extLst>
          </p:nvPr>
        </p:nvGraphicFramePr>
        <p:xfrm>
          <a:off x="5223753" y="2123588"/>
          <a:ext cx="6303525" cy="3646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D405B95-C060-BED8-2364-6E452E6DCB72}"/>
              </a:ext>
            </a:extLst>
          </p:cNvPr>
          <p:cNvSpPr txBox="1"/>
          <p:nvPr/>
        </p:nvSpPr>
        <p:spPr>
          <a:xfrm>
            <a:off x="768485" y="1780162"/>
            <a:ext cx="4195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/>
              <a:t>Глобална релативна грешка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B12A9E-768F-F6A3-49EB-98E4EAF45A65}"/>
              </a:ext>
            </a:extLst>
          </p:cNvPr>
          <p:cNvSpPr txBox="1"/>
          <p:nvPr/>
        </p:nvSpPr>
        <p:spPr>
          <a:xfrm>
            <a:off x="5348472" y="1754256"/>
            <a:ext cx="403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/>
              <a:t>Максимална апсолутна грешка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B4BDF-3FF4-5236-EB22-8AD8805705FA}"/>
              </a:ext>
            </a:extLst>
          </p:cNvPr>
          <p:cNvSpPr txBox="1"/>
          <p:nvPr/>
        </p:nvSpPr>
        <p:spPr>
          <a:xfrm>
            <a:off x="9387191" y="3946771"/>
            <a:ext cx="21400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1200" dirty="0"/>
              <a:t>Тест примери:</a:t>
            </a:r>
            <a:endParaRPr lang="en-US" sz="1200" dirty="0"/>
          </a:p>
          <a:p>
            <a:r>
              <a:rPr lang="en-US" sz="1200" dirty="0"/>
              <a:t>uniform_random_1000</a:t>
            </a:r>
          </a:p>
          <a:p>
            <a:r>
              <a:rPr lang="en-US" sz="1200" dirty="0"/>
              <a:t>mixed_random_1000</a:t>
            </a:r>
          </a:p>
          <a:p>
            <a:r>
              <a:rPr lang="en-US" sz="1200" dirty="0"/>
              <a:t>mixed_log_1000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65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6AE4-80A6-28F3-B891-18BA0C28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44DF94-7E03-94B4-0F65-9DE792456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3800" dirty="0"/>
              <a:t>Графици грешака за апликацију молекуларна динамика</a:t>
            </a:r>
            <a:endParaRPr lang="en-US" sz="38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6A9D7437-6E57-A6E7-96AB-7169BBB921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9676945"/>
              </p:ext>
            </p:extLst>
          </p:nvPr>
        </p:nvGraphicFramePr>
        <p:xfrm>
          <a:off x="194680" y="2667431"/>
          <a:ext cx="3394953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6E0DDD7-8379-1D8F-4A85-A0188F65FE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627688"/>
              </p:ext>
            </p:extLst>
          </p:nvPr>
        </p:nvGraphicFramePr>
        <p:xfrm>
          <a:off x="3589633" y="2667431"/>
          <a:ext cx="3394953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CD5BD27F-5B50-5022-173C-0372C45394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1096163"/>
              </p:ext>
            </p:extLst>
          </p:nvPr>
        </p:nvGraphicFramePr>
        <p:xfrm>
          <a:off x="6984585" y="2667431"/>
          <a:ext cx="4863703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C0618A5-2BC0-70E7-18B4-E186D5025100}"/>
              </a:ext>
            </a:extLst>
          </p:cNvPr>
          <p:cNvSpPr txBox="1"/>
          <p:nvPr/>
        </p:nvSpPr>
        <p:spPr>
          <a:xfrm>
            <a:off x="437906" y="1853248"/>
            <a:ext cx="3365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/>
              <a:t>Глобална релативна грешка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F067B8-503C-81F2-42A8-6A4A94EC71D0}"/>
              </a:ext>
            </a:extLst>
          </p:cNvPr>
          <p:cNvSpPr txBox="1"/>
          <p:nvPr/>
        </p:nvSpPr>
        <p:spPr>
          <a:xfrm>
            <a:off x="3748264" y="1853248"/>
            <a:ext cx="3236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/>
              <a:t>Максимална релативна грешка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23D520-1353-8015-FA4B-AC56B7474853}"/>
              </a:ext>
            </a:extLst>
          </p:cNvPr>
          <p:cNvSpPr txBox="1"/>
          <p:nvPr/>
        </p:nvSpPr>
        <p:spPr>
          <a:xfrm>
            <a:off x="6984585" y="1836434"/>
            <a:ext cx="3395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/>
              <a:t>Сума сила на све честице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CCE68C-D28A-F0E9-4A14-ADC4D1DB5384}"/>
              </a:ext>
            </a:extLst>
          </p:cNvPr>
          <p:cNvSpPr txBox="1"/>
          <p:nvPr/>
        </p:nvSpPr>
        <p:spPr>
          <a:xfrm>
            <a:off x="10330934" y="4267631"/>
            <a:ext cx="1517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1200" dirty="0"/>
              <a:t>Тест примери:</a:t>
            </a:r>
          </a:p>
          <a:p>
            <a:r>
              <a:rPr lang="en-US" sz="1200" dirty="0"/>
              <a:t>md_2d_500_500</a:t>
            </a:r>
          </a:p>
          <a:p>
            <a:r>
              <a:rPr lang="en-US" sz="1200" dirty="0"/>
              <a:t>md_3d_300_500</a:t>
            </a:r>
          </a:p>
          <a:p>
            <a:r>
              <a:rPr lang="en-US" sz="1200" dirty="0"/>
              <a:t>md_3d_</a:t>
            </a:r>
            <a:r>
              <a:rPr lang="sr-Cyrl-RS" sz="1200" dirty="0"/>
              <a:t>1000</a:t>
            </a:r>
            <a:r>
              <a:rPr lang="en-US" sz="1200" dirty="0"/>
              <a:t>_500</a:t>
            </a:r>
          </a:p>
        </p:txBody>
      </p:sp>
    </p:spTree>
    <p:extLst>
      <p:ext uri="{BB962C8B-B14F-4D97-AF65-F5344CB8AC3E}">
        <p14:creationId xmlns:p14="http://schemas.microsoft.com/office/powerpoint/2010/main" val="1040775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57BC3-F647-0AD9-3574-4E636004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820A8D-0D8A-B328-F611-A50E8517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3800" dirty="0"/>
              <a:t>Графици зависности убрзања </a:t>
            </a:r>
            <a:endParaRPr lang="en-US" sz="3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18F004-B5DF-FA5C-A39C-AD42AA56984B}"/>
              </a:ext>
            </a:extLst>
          </p:cNvPr>
          <p:cNvSpPr txBox="1"/>
          <p:nvPr/>
        </p:nvSpPr>
        <p:spPr>
          <a:xfrm>
            <a:off x="437906" y="1853248"/>
            <a:ext cx="336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/>
              <a:t>Сумирање низа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7610AF-C768-D09F-AE0B-1D0007077967}"/>
              </a:ext>
            </a:extLst>
          </p:cNvPr>
          <p:cNvSpPr txBox="1"/>
          <p:nvPr/>
        </p:nvSpPr>
        <p:spPr>
          <a:xfrm>
            <a:off x="3748264" y="1853248"/>
            <a:ext cx="3236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/>
              <a:t>Множење матрица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C5BBF-0344-15A9-9A28-44D67604BA25}"/>
              </a:ext>
            </a:extLst>
          </p:cNvPr>
          <p:cNvSpPr txBox="1"/>
          <p:nvPr/>
        </p:nvSpPr>
        <p:spPr>
          <a:xfrm>
            <a:off x="6984585" y="1836434"/>
            <a:ext cx="3395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/>
              <a:t>Молекуларна динамика</a:t>
            </a:r>
            <a:endParaRPr lang="en-US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7ADE8D6-57E5-8945-11AB-5649ACC311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9624999"/>
              </p:ext>
            </p:extLst>
          </p:nvPr>
        </p:nvGraphicFramePr>
        <p:xfrm>
          <a:off x="6498075" y="2558374"/>
          <a:ext cx="5165389" cy="34922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D9E01E8-54EF-92CA-B55F-ACE7AF6DCE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7965166"/>
              </p:ext>
            </p:extLst>
          </p:nvPr>
        </p:nvGraphicFramePr>
        <p:xfrm>
          <a:off x="3730310" y="2575188"/>
          <a:ext cx="3236322" cy="3492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8E79758-40DD-698E-1FBD-C7A89BC122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2800604"/>
              </p:ext>
            </p:extLst>
          </p:nvPr>
        </p:nvGraphicFramePr>
        <p:xfrm>
          <a:off x="286894" y="2558374"/>
          <a:ext cx="3365609" cy="3492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25244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ADB87E-9A62-448E-4263-0F0DBB9CB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Побољшање тачности</a:t>
            </a:r>
            <a:r>
              <a:rPr lang="en-US" dirty="0"/>
              <a:t> </a:t>
            </a:r>
            <a:r>
              <a:rPr lang="sr-Cyrl-RS" dirty="0"/>
              <a:t>по цени времена</a:t>
            </a:r>
          </a:p>
          <a:p>
            <a:r>
              <a:rPr lang="sr-Cyrl-RS" dirty="0"/>
              <a:t>Утицај других рачунских операција</a:t>
            </a:r>
          </a:p>
          <a:p>
            <a:r>
              <a:rPr lang="sr-Cyrl-RS" dirty="0" err="1"/>
              <a:t>Репродуцибилност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25BE38-726D-FCEA-B93A-2A48292C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Закључак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785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71F86C-BFFF-563C-BF59-98D017FF6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77123"/>
            <a:ext cx="12120663" cy="3329581"/>
          </a:xfrm>
        </p:spPr>
        <p:txBody>
          <a:bodyPr/>
          <a:lstStyle/>
          <a:p>
            <a:pPr algn="ctr"/>
            <a:r>
              <a:rPr lang="sr-Cyrl-RS" dirty="0"/>
              <a:t>Хвала на пажњи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23218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578</TotalTime>
  <Words>420</Words>
  <Application>Microsoft Office PowerPoint</Application>
  <PresentationFormat>Widescreen</PresentationFormat>
  <Paragraphs>88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Century Gothic</vt:lpstr>
      <vt:lpstr>Consolas</vt:lpstr>
      <vt:lpstr>Wingdings 3</vt:lpstr>
      <vt:lpstr>Ion</vt:lpstr>
      <vt:lpstr>Дипломски рад ПОБОЉШАЊЕ ТАЧНОСТИ НУМЕРИЧКИХ РЕЗУЛТАТА У ПАРАЛЕЛНОМ ОКРУЖЕЊУ ПРИМЕНОМ КАХАНОВОГ И НОЈМАЈЕРОВОГ АЛГОРИТМА</vt:lpstr>
      <vt:lpstr>Мотивација</vt:lpstr>
      <vt:lpstr>Циљ рада</vt:lpstr>
      <vt:lpstr>Каханов алгоритам</vt:lpstr>
      <vt:lpstr>Нојмајеров алгоритам</vt:lpstr>
      <vt:lpstr>Начин примене у паралелном окружењу</vt:lpstr>
      <vt:lpstr>Мерење грешке</vt:lpstr>
      <vt:lpstr>Графици релативне грешке за апликацију сумирање низа</vt:lpstr>
      <vt:lpstr>Графици грешака за апликацију множење матрица</vt:lpstr>
      <vt:lpstr>Графици грешака за апликацију молекуларна динамика</vt:lpstr>
      <vt:lpstr>Графици зависности убрзања </vt:lpstr>
      <vt:lpstr>Закључак</vt:lpstr>
      <vt:lpstr>Хвала на пажњи!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Урош Недељковић</dc:creator>
  <cp:lastModifiedBy>Урош Недељковић</cp:lastModifiedBy>
  <cp:revision>4</cp:revision>
  <dcterms:created xsi:type="dcterms:W3CDTF">2026-09-09T10:06:33Z</dcterms:created>
  <dcterms:modified xsi:type="dcterms:W3CDTF">2026-09-09T23:23:01Z</dcterms:modified>
</cp:coreProperties>
</file>